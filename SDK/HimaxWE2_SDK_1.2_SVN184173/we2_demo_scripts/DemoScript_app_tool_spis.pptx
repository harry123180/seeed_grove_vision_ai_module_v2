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53" r:id="rId2"/>
  </p:sldMasterIdLst>
  <p:notesMasterIdLst>
    <p:notesMasterId r:id="rId14"/>
  </p:notesMasterIdLst>
  <p:handoutMasterIdLst>
    <p:handoutMasterId r:id="rId15"/>
  </p:handoutMasterIdLst>
  <p:sldIdLst>
    <p:sldId id="8504" r:id="rId3"/>
    <p:sldId id="8505" r:id="rId4"/>
    <p:sldId id="8506" r:id="rId5"/>
    <p:sldId id="8507" r:id="rId6"/>
    <p:sldId id="8508" r:id="rId7"/>
    <p:sldId id="8509" r:id="rId8"/>
    <p:sldId id="8510" r:id="rId9"/>
    <p:sldId id="8511" r:id="rId10"/>
    <p:sldId id="8512" r:id="rId11"/>
    <p:sldId id="8502" r:id="rId12"/>
    <p:sldId id="8503" r:id="rId13"/>
  </p:sldIdLst>
  <p:sldSz cx="12192000" cy="6858000"/>
  <p:notesSz cx="7099300" cy="10234613"/>
  <p:defaultTextStyle>
    <a:defPPr>
      <a:defRPr lang="zh-TW"/>
    </a:defPPr>
    <a:lvl1pPr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itchFamily="34" charset="0"/>
        <a:ea typeface="Arial Unicode MS" pitchFamily="34" charset="-120"/>
        <a:cs typeface="Arial Unicode MS" pitchFamily="34" charset="-120"/>
      </a:defRPr>
    </a:lvl1pPr>
    <a:lvl2pPr marL="4572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itchFamily="34" charset="0"/>
        <a:ea typeface="Arial Unicode MS" pitchFamily="34" charset="-120"/>
        <a:cs typeface="Arial Unicode MS" pitchFamily="34" charset="-120"/>
      </a:defRPr>
    </a:lvl2pPr>
    <a:lvl3pPr marL="9144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itchFamily="34" charset="0"/>
        <a:ea typeface="Arial Unicode MS" pitchFamily="34" charset="-120"/>
        <a:cs typeface="Arial Unicode MS" pitchFamily="34" charset="-120"/>
      </a:defRPr>
    </a:lvl3pPr>
    <a:lvl4pPr marL="13716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itchFamily="34" charset="0"/>
        <a:ea typeface="Arial Unicode MS" pitchFamily="34" charset="-120"/>
        <a:cs typeface="Arial Unicode MS" pitchFamily="34" charset="-120"/>
      </a:defRPr>
    </a:lvl4pPr>
    <a:lvl5pPr marL="18288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itchFamily="34" charset="0"/>
        <a:ea typeface="Arial Unicode MS" pitchFamily="34" charset="-120"/>
        <a:cs typeface="Arial Unicode MS" pitchFamily="34" charset="-120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pitchFamily="34" charset="0"/>
        <a:ea typeface="Arial Unicode MS" pitchFamily="34" charset="-120"/>
        <a:cs typeface="Arial Unicode MS" pitchFamily="34" charset="-120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pitchFamily="34" charset="0"/>
        <a:ea typeface="Arial Unicode MS" pitchFamily="34" charset="-120"/>
        <a:cs typeface="Arial Unicode MS" pitchFamily="34" charset="-120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pitchFamily="34" charset="0"/>
        <a:ea typeface="Arial Unicode MS" pitchFamily="34" charset="-120"/>
        <a:cs typeface="Arial Unicode MS" pitchFamily="34" charset="-120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pitchFamily="34" charset="0"/>
        <a:ea typeface="Arial Unicode MS" pitchFamily="34" charset="-120"/>
        <a:cs typeface="Arial Unicode MS" pitchFamily="34" charset="-12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8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900323" initials="" lastIdx="1" clrIdx="0"/>
  <p:cmAuthor id="1" name="Aaron Lin(林榮城)" initials="AL" lastIdx="1" clrIdx="1">
    <p:extLst>
      <p:ext uri="{19B8F6BF-5375-455C-9EA6-DF929625EA0E}">
        <p15:presenceInfo xmlns:p15="http://schemas.microsoft.com/office/powerpoint/2012/main" userId="S::aaron_lin@himax.com.tw::140ad338-382a-47f2-85fb-589b2f88a49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0000FF"/>
    <a:srgbClr val="FF9900"/>
    <a:srgbClr val="FFCB6D"/>
    <a:srgbClr val="FF5050"/>
    <a:srgbClr val="00FF00"/>
    <a:srgbClr val="99FF99"/>
    <a:srgbClr val="99FF66"/>
    <a:srgbClr val="CCFF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74" autoAdjust="0"/>
    <p:restoredTop sz="95373" autoAdjust="0"/>
  </p:normalViewPr>
  <p:slideViewPr>
    <p:cSldViewPr snapToObjects="1">
      <p:cViewPr varScale="1">
        <p:scale>
          <a:sx n="109" d="100"/>
          <a:sy n="109" d="100"/>
        </p:scale>
        <p:origin x="1872" y="96"/>
      </p:cViewPr>
      <p:guideLst>
        <p:guide orient="horz" pos="2160"/>
        <p:guide pos="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0" tIns="47703" rIns="95410" bIns="47703" numCol="1" anchor="t" anchorCtr="0" compatLnSpc="1">
            <a:prstTxWarp prst="textNoShape">
              <a:avLst/>
            </a:prstTxWarp>
          </a:bodyPr>
          <a:lstStyle>
            <a:lvl1pPr algn="l" defTabSz="955675">
              <a:defRPr kumimoji="1" sz="1300" b="0">
                <a:latin typeface="Times New Roman" pitchFamily="18" charset="0"/>
                <a:ea typeface="新細明體" pitchFamily="18" charset="-120"/>
              </a:defRPr>
            </a:lvl1pPr>
          </a:lstStyle>
          <a:p>
            <a:endParaRPr lang="en-US" altLang="zh-TW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0" tIns="47703" rIns="95410" bIns="47703" numCol="1" anchor="t" anchorCtr="0" compatLnSpc="1">
            <a:prstTxWarp prst="textNoShape">
              <a:avLst/>
            </a:prstTxWarp>
          </a:bodyPr>
          <a:lstStyle>
            <a:lvl1pPr algn="r" defTabSz="955675">
              <a:defRPr kumimoji="1" sz="1300" b="0">
                <a:latin typeface="Times New Roman" pitchFamily="18" charset="0"/>
                <a:ea typeface="新細明體" pitchFamily="18" charset="-120"/>
              </a:defRPr>
            </a:lvl1pPr>
          </a:lstStyle>
          <a:p>
            <a:endParaRPr lang="en-US" altLang="zh-TW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0" tIns="47703" rIns="95410" bIns="47703" numCol="1" anchor="b" anchorCtr="0" compatLnSpc="1">
            <a:prstTxWarp prst="textNoShape">
              <a:avLst/>
            </a:prstTxWarp>
          </a:bodyPr>
          <a:lstStyle>
            <a:lvl1pPr algn="l" defTabSz="955675">
              <a:defRPr kumimoji="1" sz="1300" b="0">
                <a:latin typeface="Times New Roman" pitchFamily="18" charset="0"/>
                <a:ea typeface="新細明體" pitchFamily="18" charset="-120"/>
              </a:defRPr>
            </a:lvl1pPr>
          </a:lstStyle>
          <a:p>
            <a:endParaRPr lang="en-US" altLang="zh-TW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185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0" tIns="47703" rIns="95410" bIns="47703" numCol="1" anchor="b" anchorCtr="0" compatLnSpc="1">
            <a:prstTxWarp prst="textNoShape">
              <a:avLst/>
            </a:prstTxWarp>
          </a:bodyPr>
          <a:lstStyle>
            <a:lvl1pPr algn="r" defTabSz="955675">
              <a:defRPr kumimoji="1" sz="1300" b="0">
                <a:latin typeface="Times New Roman" pitchFamily="18" charset="0"/>
                <a:ea typeface="新細明體" pitchFamily="18" charset="-120"/>
              </a:defRPr>
            </a:lvl1pPr>
          </a:lstStyle>
          <a:p>
            <a:fld id="{1FB6698D-F7F7-4D72-AA61-DB22C42A5521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0" tIns="47703" rIns="95410" bIns="47703" numCol="1" anchor="t" anchorCtr="0" compatLnSpc="1">
            <a:prstTxWarp prst="textNoShape">
              <a:avLst/>
            </a:prstTxWarp>
          </a:bodyPr>
          <a:lstStyle>
            <a:lvl1pPr algn="l" defTabSz="955675">
              <a:defRPr kumimoji="1" sz="1300" b="0">
                <a:latin typeface="Tahoma" pitchFamily="34" charset="0"/>
                <a:ea typeface="新細明體" pitchFamily="18" charset="-120"/>
              </a:defRPr>
            </a:lvl1pPr>
          </a:lstStyle>
          <a:p>
            <a:endParaRPr lang="en-US" altLang="zh-TW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0" tIns="47703" rIns="95410" bIns="47703" numCol="1" anchor="t" anchorCtr="0" compatLnSpc="1">
            <a:prstTxWarp prst="textNoShape">
              <a:avLst/>
            </a:prstTxWarp>
          </a:bodyPr>
          <a:lstStyle>
            <a:lvl1pPr algn="r" defTabSz="955675">
              <a:defRPr kumimoji="1" sz="1300" b="0">
                <a:latin typeface="Tahoma" pitchFamily="34" charset="0"/>
                <a:ea typeface="新細明體" pitchFamily="18" charset="-120"/>
              </a:defRPr>
            </a:lvl1pPr>
          </a:lstStyle>
          <a:p>
            <a:endParaRPr lang="en-US" altLang="zh-TW" dirty="0"/>
          </a:p>
        </p:txBody>
      </p:sp>
      <p:sp>
        <p:nvSpPr>
          <p:cNvPr id="10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6050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860925"/>
            <a:ext cx="52101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0" tIns="47703" rIns="95410" bIns="477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0" tIns="47703" rIns="95410" bIns="47703" numCol="1" anchor="b" anchorCtr="0" compatLnSpc="1">
            <a:prstTxWarp prst="textNoShape">
              <a:avLst/>
            </a:prstTxWarp>
          </a:bodyPr>
          <a:lstStyle>
            <a:lvl1pPr algn="l" defTabSz="955675">
              <a:defRPr kumimoji="1" sz="1300" b="0">
                <a:latin typeface="Tahoma" pitchFamily="34" charset="0"/>
                <a:ea typeface="新細明體" pitchFamily="18" charset="-120"/>
              </a:defRPr>
            </a:lvl1pPr>
          </a:lstStyle>
          <a:p>
            <a:endParaRPr lang="en-US" altLang="zh-TW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185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10" tIns="47703" rIns="95410" bIns="47703" numCol="1" anchor="b" anchorCtr="0" compatLnSpc="1">
            <a:prstTxWarp prst="textNoShape">
              <a:avLst/>
            </a:prstTxWarp>
          </a:bodyPr>
          <a:lstStyle>
            <a:lvl1pPr algn="r" defTabSz="955675">
              <a:defRPr kumimoji="1" sz="1300" b="0">
                <a:latin typeface="Tahoma" pitchFamily="34" charset="0"/>
                <a:ea typeface="新細明體" pitchFamily="18" charset="-120"/>
              </a:defRPr>
            </a:lvl1pPr>
          </a:lstStyle>
          <a:p>
            <a:fld id="{68F797C0-2FF7-45B0-A265-54F5A098B712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826" name="Rectangle 2"/>
          <p:cNvSpPr>
            <a:spLocks noChangeArrowheads="1"/>
          </p:cNvSpPr>
          <p:nvPr/>
        </p:nvSpPr>
        <p:spPr bwMode="auto">
          <a:xfrm>
            <a:off x="0" y="0"/>
            <a:ext cx="2336800" cy="4876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endParaRPr lang="en-GB" sz="2400" b="0" dirty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3021828" name="Rectangle 4"/>
          <p:cNvSpPr>
            <a:spLocks noChangeArrowheads="1"/>
          </p:cNvSpPr>
          <p:nvPr/>
        </p:nvSpPr>
        <p:spPr bwMode="auto">
          <a:xfrm>
            <a:off x="-2751667" y="5531436"/>
            <a:ext cx="2472267" cy="338554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45720" rIns="27432" anchor="ctr">
            <a:spAutoFit/>
          </a:bodyPr>
          <a:lstStyle/>
          <a:p>
            <a:endParaRPr lang="zh-TW" altLang="en-US" sz="1600"/>
          </a:p>
        </p:txBody>
      </p:sp>
      <p:sp>
        <p:nvSpPr>
          <p:cNvPr id="3021829" name="Rectangle 5"/>
          <p:cNvSpPr>
            <a:spLocks noChangeArrowheads="1"/>
          </p:cNvSpPr>
          <p:nvPr/>
        </p:nvSpPr>
        <p:spPr bwMode="auto">
          <a:xfrm>
            <a:off x="-2578100" y="5135563"/>
            <a:ext cx="609600" cy="4572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 sz="1000" b="0" dirty="0">
                <a:solidFill>
                  <a:schemeClr val="bg1"/>
                </a:solidFill>
                <a:cs typeface="Arial" pitchFamily="34" charset="0"/>
              </a:rPr>
              <a:t>0</a:t>
            </a:r>
          </a:p>
          <a:p>
            <a:r>
              <a:rPr lang="en-US" altLang="zh-TW" sz="1000" b="0" dirty="0">
                <a:solidFill>
                  <a:schemeClr val="bg1"/>
                </a:solidFill>
                <a:cs typeface="Arial" pitchFamily="34" charset="0"/>
              </a:rPr>
              <a:t>51</a:t>
            </a:r>
          </a:p>
          <a:p>
            <a:r>
              <a:rPr lang="en-US" altLang="zh-TW" sz="1000" b="0" dirty="0">
                <a:solidFill>
                  <a:schemeClr val="bg1"/>
                </a:solidFill>
                <a:cs typeface="Arial" pitchFamily="34" charset="0"/>
              </a:rPr>
              <a:t>102</a:t>
            </a:r>
          </a:p>
        </p:txBody>
      </p:sp>
      <p:sp>
        <p:nvSpPr>
          <p:cNvPr id="3021830" name="Rectangle 6"/>
          <p:cNvSpPr>
            <a:spLocks noChangeArrowheads="1"/>
          </p:cNvSpPr>
          <p:nvPr/>
        </p:nvSpPr>
        <p:spPr bwMode="auto">
          <a:xfrm>
            <a:off x="-1790700" y="3684588"/>
            <a:ext cx="609600" cy="457200"/>
          </a:xfrm>
          <a:prstGeom prst="rect">
            <a:avLst/>
          </a:prstGeom>
          <a:solidFill>
            <a:srgbClr val="1B65B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 sz="1000" b="0" dirty="0">
                <a:solidFill>
                  <a:schemeClr val="bg1"/>
                </a:solidFill>
                <a:cs typeface="Arial" pitchFamily="34" charset="0"/>
              </a:rPr>
              <a:t>27</a:t>
            </a:r>
          </a:p>
          <a:p>
            <a:r>
              <a:rPr lang="en-US" altLang="zh-TW" sz="1000" b="0" dirty="0">
                <a:solidFill>
                  <a:schemeClr val="bg1"/>
                </a:solidFill>
                <a:cs typeface="Arial" pitchFamily="34" charset="0"/>
              </a:rPr>
              <a:t>101</a:t>
            </a:r>
          </a:p>
          <a:p>
            <a:r>
              <a:rPr lang="en-US" altLang="zh-TW" sz="1000" b="0" dirty="0">
                <a:solidFill>
                  <a:schemeClr val="bg1"/>
                </a:solidFill>
                <a:cs typeface="Arial" pitchFamily="34" charset="0"/>
              </a:rPr>
              <a:t>183</a:t>
            </a:r>
          </a:p>
        </p:txBody>
      </p:sp>
      <p:sp>
        <p:nvSpPr>
          <p:cNvPr id="3021831" name="Rectangle 7"/>
          <p:cNvSpPr>
            <a:spLocks noChangeArrowheads="1"/>
          </p:cNvSpPr>
          <p:nvPr/>
        </p:nvSpPr>
        <p:spPr bwMode="auto">
          <a:xfrm>
            <a:off x="-1043517" y="5135563"/>
            <a:ext cx="609600" cy="457200"/>
          </a:xfrm>
          <a:prstGeom prst="rect">
            <a:avLst/>
          </a:prstGeom>
          <a:solidFill>
            <a:srgbClr val="FFCB6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 sz="1000" b="0" dirty="0">
                <a:cs typeface="Arial" pitchFamily="34" charset="0"/>
              </a:rPr>
              <a:t>255</a:t>
            </a:r>
          </a:p>
          <a:p>
            <a:r>
              <a:rPr lang="en-US" altLang="zh-TW" sz="1000" b="0" dirty="0">
                <a:cs typeface="Arial" pitchFamily="34" charset="0"/>
              </a:rPr>
              <a:t>203</a:t>
            </a:r>
          </a:p>
          <a:p>
            <a:r>
              <a:rPr lang="en-US" altLang="zh-TW" sz="1000" b="0" dirty="0">
                <a:cs typeface="Arial" pitchFamily="34" charset="0"/>
              </a:rPr>
              <a:t>109</a:t>
            </a:r>
          </a:p>
        </p:txBody>
      </p:sp>
      <p:sp>
        <p:nvSpPr>
          <p:cNvPr id="3021832" name="Rectangle 8"/>
          <p:cNvSpPr>
            <a:spLocks noChangeArrowheads="1"/>
          </p:cNvSpPr>
          <p:nvPr/>
        </p:nvSpPr>
        <p:spPr bwMode="auto">
          <a:xfrm>
            <a:off x="-2578100" y="5821363"/>
            <a:ext cx="609600" cy="457200"/>
          </a:xfrm>
          <a:prstGeom prst="rect">
            <a:avLst/>
          </a:prstGeom>
          <a:solidFill>
            <a:srgbClr val="CCCC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 sz="1000" b="0" dirty="0">
                <a:cs typeface="Arial" pitchFamily="34" charset="0"/>
              </a:rPr>
              <a:t>204</a:t>
            </a:r>
          </a:p>
          <a:p>
            <a:r>
              <a:rPr lang="en-US" altLang="zh-TW" sz="1000" b="0" dirty="0">
                <a:cs typeface="Arial" pitchFamily="34" charset="0"/>
              </a:rPr>
              <a:t>204</a:t>
            </a:r>
          </a:p>
          <a:p>
            <a:r>
              <a:rPr lang="en-US" altLang="zh-TW" sz="1000" b="0" dirty="0">
                <a:cs typeface="Arial" pitchFamily="34" charset="0"/>
              </a:rPr>
              <a:t>153</a:t>
            </a:r>
          </a:p>
        </p:txBody>
      </p:sp>
      <p:sp>
        <p:nvSpPr>
          <p:cNvPr id="3021833" name="Rectangle 9"/>
          <p:cNvSpPr>
            <a:spLocks noChangeArrowheads="1"/>
          </p:cNvSpPr>
          <p:nvPr/>
        </p:nvSpPr>
        <p:spPr bwMode="auto">
          <a:xfrm>
            <a:off x="-1811867" y="5821363"/>
            <a:ext cx="609600" cy="457200"/>
          </a:xfrm>
          <a:prstGeom prst="rect">
            <a:avLst/>
          </a:prstGeom>
          <a:solidFill>
            <a:srgbClr val="E90919">
              <a:alpha val="60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1000" b="0" dirty="0">
                <a:cs typeface="Arial" pitchFamily="34" charset="0"/>
              </a:rPr>
              <a:t>233</a:t>
            </a:r>
          </a:p>
          <a:p>
            <a:r>
              <a:rPr lang="en-US" altLang="zh-CN" sz="1000" b="0" dirty="0">
                <a:cs typeface="Arial" pitchFamily="34" charset="0"/>
              </a:rPr>
              <a:t>9</a:t>
            </a:r>
          </a:p>
          <a:p>
            <a:r>
              <a:rPr lang="en-US" altLang="zh-CN" sz="1000" b="0" dirty="0">
                <a:cs typeface="Arial" pitchFamily="34" charset="0"/>
              </a:rPr>
              <a:t>25</a:t>
            </a:r>
            <a:endParaRPr lang="en-US" altLang="zh-TW" sz="1000" b="0" dirty="0">
              <a:ea typeface="SimSun" pitchFamily="2" charset="-122"/>
              <a:cs typeface="Arial" pitchFamily="34" charset="0"/>
            </a:endParaRPr>
          </a:p>
        </p:txBody>
      </p:sp>
      <p:sp>
        <p:nvSpPr>
          <p:cNvPr id="3021834" name="Rectangle 10"/>
          <p:cNvSpPr>
            <a:spLocks noChangeArrowheads="1"/>
          </p:cNvSpPr>
          <p:nvPr/>
        </p:nvSpPr>
        <p:spPr bwMode="auto">
          <a:xfrm>
            <a:off x="-1043517" y="5821363"/>
            <a:ext cx="609600" cy="457200"/>
          </a:xfrm>
          <a:prstGeom prst="rect">
            <a:avLst/>
          </a:prstGeom>
          <a:solidFill>
            <a:srgbClr val="78828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 sz="1000" b="0" dirty="0">
                <a:cs typeface="Arial" pitchFamily="34" charset="0"/>
              </a:rPr>
              <a:t>120</a:t>
            </a:r>
          </a:p>
          <a:p>
            <a:r>
              <a:rPr lang="en-US" altLang="zh-TW" sz="1000" b="0" dirty="0">
                <a:cs typeface="Arial" pitchFamily="34" charset="0"/>
              </a:rPr>
              <a:t>130</a:t>
            </a:r>
          </a:p>
          <a:p>
            <a:r>
              <a:rPr lang="en-US" altLang="zh-TW" sz="1000" b="0" dirty="0">
                <a:cs typeface="Arial" pitchFamily="34" charset="0"/>
              </a:rPr>
              <a:t>130</a:t>
            </a:r>
          </a:p>
        </p:txBody>
      </p:sp>
      <p:sp>
        <p:nvSpPr>
          <p:cNvPr id="3021835" name="Rectangle 11"/>
          <p:cNvSpPr>
            <a:spLocks noChangeArrowheads="1"/>
          </p:cNvSpPr>
          <p:nvPr/>
        </p:nvSpPr>
        <p:spPr bwMode="auto">
          <a:xfrm>
            <a:off x="-1811867" y="5135563"/>
            <a:ext cx="609600" cy="457200"/>
          </a:xfrm>
          <a:prstGeom prst="rect">
            <a:avLst/>
          </a:prstGeom>
          <a:solidFill>
            <a:srgbClr val="86D3E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 sz="1000" b="0" dirty="0">
                <a:cs typeface="Arial" pitchFamily="34" charset="0"/>
              </a:rPr>
              <a:t>134</a:t>
            </a:r>
          </a:p>
          <a:p>
            <a:r>
              <a:rPr lang="en-US" altLang="zh-TW" sz="1000" b="0" dirty="0">
                <a:cs typeface="Arial" pitchFamily="34" charset="0"/>
              </a:rPr>
              <a:t>211</a:t>
            </a:r>
          </a:p>
          <a:p>
            <a:r>
              <a:rPr lang="en-US" altLang="zh-TW" sz="1000" b="0" dirty="0">
                <a:cs typeface="Arial" pitchFamily="34" charset="0"/>
              </a:rPr>
              <a:t>226</a:t>
            </a:r>
          </a:p>
        </p:txBody>
      </p:sp>
      <p:sp>
        <p:nvSpPr>
          <p:cNvPr id="3021842" name="Line 18"/>
          <p:cNvSpPr>
            <a:spLocks noChangeShapeType="1"/>
          </p:cNvSpPr>
          <p:nvPr/>
        </p:nvSpPr>
        <p:spPr bwMode="auto">
          <a:xfrm flipV="1">
            <a:off x="846667" y="660400"/>
            <a:ext cx="6045200" cy="254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TW" altLang="en-US" sz="1600"/>
          </a:p>
        </p:txBody>
      </p:sp>
      <p:sp>
        <p:nvSpPr>
          <p:cNvPr id="3021843" name="Line 19"/>
          <p:cNvSpPr>
            <a:spLocks noChangeShapeType="1"/>
          </p:cNvSpPr>
          <p:nvPr/>
        </p:nvSpPr>
        <p:spPr bwMode="auto">
          <a:xfrm flipV="1">
            <a:off x="11243734" y="660400"/>
            <a:ext cx="626533" cy="127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TW" altLang="en-US" sz="1600"/>
          </a:p>
        </p:txBody>
      </p:sp>
      <p:sp>
        <p:nvSpPr>
          <p:cNvPr id="3021844" name="Text Box 20"/>
          <p:cNvSpPr txBox="1">
            <a:spLocks noChangeArrowheads="1"/>
          </p:cNvSpPr>
          <p:nvPr/>
        </p:nvSpPr>
        <p:spPr bwMode="auto">
          <a:xfrm>
            <a:off x="7500634" y="438150"/>
            <a:ext cx="3094117" cy="46166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2400" b="0" dirty="0">
                <a:cs typeface="Arial" pitchFamily="34" charset="0"/>
              </a:rPr>
              <a:t>Drive for better vision</a:t>
            </a:r>
          </a:p>
        </p:txBody>
      </p:sp>
      <p:pic>
        <p:nvPicPr>
          <p:cNvPr id="3021848" name="Picture 24" descr="LOGO-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0267" y="1398588"/>
            <a:ext cx="4023784" cy="950912"/>
          </a:xfrm>
          <a:prstGeom prst="rect">
            <a:avLst/>
          </a:prstGeom>
          <a:noFill/>
        </p:spPr>
      </p:pic>
      <p:grpSp>
        <p:nvGrpSpPr>
          <p:cNvPr id="3021860" name="Group 36"/>
          <p:cNvGrpSpPr>
            <a:grpSpLocks/>
          </p:cNvGrpSpPr>
          <p:nvPr userDrawn="1"/>
        </p:nvGrpSpPr>
        <p:grpSpPr bwMode="auto">
          <a:xfrm>
            <a:off x="8199967" y="5824538"/>
            <a:ext cx="3172884" cy="565150"/>
            <a:chOff x="592" y="1676"/>
            <a:chExt cx="1499" cy="356"/>
          </a:xfrm>
        </p:grpSpPr>
        <p:sp>
          <p:nvSpPr>
            <p:cNvPr id="3021861" name="Text Box 37"/>
            <p:cNvSpPr txBox="1">
              <a:spLocks noChangeArrowheads="1"/>
            </p:cNvSpPr>
            <p:nvPr/>
          </p:nvSpPr>
          <p:spPr bwMode="auto">
            <a:xfrm>
              <a:off x="592" y="1676"/>
              <a:ext cx="1499" cy="356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dist"/>
              <a:r>
                <a:rPr lang="en-US" altLang="zh-TW" sz="1500" b="0" dirty="0">
                  <a:cs typeface="Arial" pitchFamily="34" charset="0"/>
                </a:rPr>
                <a:t>Himax Technologies, Inc.</a:t>
              </a:r>
            </a:p>
            <a:p>
              <a:pPr algn="dist"/>
              <a:r>
                <a:rPr lang="zh-TW" altLang="en-US" sz="1600" b="0">
                  <a:ea typeface="華康中黑體(P)-UN" pitchFamily="34" charset="-120"/>
                  <a:cs typeface="Arial" pitchFamily="34" charset="0"/>
                </a:rPr>
                <a:t>奇景光電股份有限公司</a:t>
              </a:r>
            </a:p>
          </p:txBody>
        </p:sp>
        <p:sp>
          <p:nvSpPr>
            <p:cNvPr id="3021862" name="Line 38"/>
            <p:cNvSpPr>
              <a:spLocks noChangeShapeType="1"/>
            </p:cNvSpPr>
            <p:nvPr/>
          </p:nvSpPr>
          <p:spPr bwMode="auto">
            <a:xfrm flipV="1">
              <a:off x="666" y="1856"/>
              <a:ext cx="1347" cy="0"/>
            </a:xfrm>
            <a:prstGeom prst="line">
              <a:avLst/>
            </a:prstGeom>
            <a:noFill/>
            <a:ln w="6350">
              <a:solidFill>
                <a:srgbClr val="0033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 sz="1600"/>
            </a:p>
          </p:txBody>
        </p:sp>
      </p:grpSp>
      <p:sp>
        <p:nvSpPr>
          <p:cNvPr id="3021875" name="Rectangle 51"/>
          <p:cNvSpPr>
            <a:spLocks noGrp="1" noChangeArrowheads="1"/>
          </p:cNvSpPr>
          <p:nvPr>
            <p:ph type="ctrTitle" sz="quarter"/>
          </p:nvPr>
        </p:nvSpPr>
        <p:spPr>
          <a:xfrm>
            <a:off x="3215218" y="2535239"/>
            <a:ext cx="8449733" cy="1470025"/>
          </a:xfrm>
        </p:spPr>
        <p:txBody>
          <a:bodyPr/>
          <a:lstStyle>
            <a:lvl1pPr>
              <a:defRPr sz="3300">
                <a:solidFill>
                  <a:srgbClr val="00336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021876" name="Rectangle 5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15218" y="4286251"/>
            <a:ext cx="7147983" cy="1158875"/>
          </a:xfrm>
        </p:spPr>
        <p:txBody>
          <a:bodyPr/>
          <a:lstStyle>
            <a:lvl1pPr marL="0" indent="0">
              <a:buFont typeface="Wingdings" pitchFamily="2" charset="2"/>
              <a:buNone/>
              <a:defRPr>
                <a:ea typeface="Arial Unicode MS" pitchFamily="34" charset="-120"/>
              </a:defRPr>
            </a:lvl1pPr>
          </a:lstStyle>
          <a:p>
            <a:endParaRPr lang="zh-TW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750058C-C2FC-4EFF-BE8C-FF10CAD27BB7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39933" y="1338263"/>
            <a:ext cx="5418667" cy="5008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872AE83-494A-4F37-85A3-3788EEA0ABB5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24A402-F596-43D5-92B3-F4866707E398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0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sp>
        <p:nvSpPr>
          <p:cNvPr id="30208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ea typeface="新細明體" pitchFamily="18" charset="-120"/>
              </a:defRPr>
            </a:lvl1pPr>
          </a:lstStyle>
          <a:p>
            <a:fld id="{7D55E559-BA33-4479-92D5-E5A21EA0C561}" type="slidenum">
              <a:rPr lang="en-US" altLang="zh-TW"/>
              <a:pPr/>
              <a:t>‹#›</a:t>
            </a:fld>
            <a:endParaRPr lang="en-US" altLang="zh-TW" dirty="0"/>
          </a:p>
        </p:txBody>
      </p:sp>
      <p:sp>
        <p:nvSpPr>
          <p:cNvPr id="3020804" name="Rectangle 4"/>
          <p:cNvSpPr>
            <a:spLocks noChangeArrowheads="1"/>
          </p:cNvSpPr>
          <p:nvPr/>
        </p:nvSpPr>
        <p:spPr bwMode="auto">
          <a:xfrm>
            <a:off x="0" y="0"/>
            <a:ext cx="12192000" cy="939800"/>
          </a:xfrm>
          <a:prstGeom prst="rect">
            <a:avLst/>
          </a:prstGeom>
          <a:solidFill>
            <a:srgbClr val="3366CC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 sz="1600"/>
          </a:p>
        </p:txBody>
      </p:sp>
      <p:pic>
        <p:nvPicPr>
          <p:cNvPr id="3020805" name="Picture 5" descr="LOGO-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994901" y="6337300"/>
            <a:ext cx="2197100" cy="520700"/>
          </a:xfrm>
          <a:prstGeom prst="rect">
            <a:avLst/>
          </a:prstGeom>
          <a:noFill/>
        </p:spPr>
      </p:pic>
      <p:sp>
        <p:nvSpPr>
          <p:cNvPr id="302080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445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3020807" name="Text Box 7"/>
          <p:cNvSpPr txBox="1">
            <a:spLocks noChangeArrowheads="1"/>
          </p:cNvSpPr>
          <p:nvPr/>
        </p:nvSpPr>
        <p:spPr bwMode="auto">
          <a:xfrm>
            <a:off x="0" y="6519864"/>
            <a:ext cx="2595582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1" lang="en-US" altLang="zh-TW" sz="1200" i="1" dirty="0">
                <a:solidFill>
                  <a:schemeClr val="folHlink"/>
                </a:solidFill>
                <a:ea typeface="新細明體" pitchFamily="18" charset="-120"/>
              </a:rPr>
              <a:t>Himax Proprietary &amp; 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6" r:id="rId3"/>
    <p:sldLayoutId id="2147483659" r:id="rId4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pitchFamily="34" charset="0"/>
          <a:cs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pitchFamily="34" charset="0"/>
          <a:cs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pitchFamily="34" charset="0"/>
          <a:cs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pitchFamily="34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fontAlgn="base">
        <a:spcBef>
          <a:spcPct val="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1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10000"/>
        </a:spcBef>
        <a:spcAft>
          <a:spcPct val="0"/>
        </a:spcAft>
        <a:buClr>
          <a:schemeClr val="accent1"/>
        </a:buClr>
        <a:buSzPct val="15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658" name="Rectangle 2"/>
          <p:cNvSpPr>
            <a:spLocks noChangeArrowheads="1"/>
          </p:cNvSpPr>
          <p:nvPr/>
        </p:nvSpPr>
        <p:spPr bwMode="auto">
          <a:xfrm>
            <a:off x="0" y="0"/>
            <a:ext cx="12192000" cy="939800"/>
          </a:xfrm>
          <a:prstGeom prst="rect">
            <a:avLst/>
          </a:prstGeom>
          <a:solidFill>
            <a:srgbClr val="3366CC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 sz="1600"/>
          </a:p>
        </p:txBody>
      </p:sp>
      <p:pic>
        <p:nvPicPr>
          <p:cNvPr id="3142659" name="Picture 3" descr="master9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8851" y="2436814"/>
            <a:ext cx="5113867" cy="1216025"/>
          </a:xfrm>
          <a:prstGeom prst="rect">
            <a:avLst/>
          </a:prstGeom>
          <a:noFill/>
        </p:spPr>
      </p:pic>
      <p:sp>
        <p:nvSpPr>
          <p:cNvPr id="3142660" name="Text Box 4"/>
          <p:cNvSpPr txBox="1">
            <a:spLocks noChangeArrowheads="1"/>
          </p:cNvSpPr>
          <p:nvPr userDrawn="1"/>
        </p:nvSpPr>
        <p:spPr bwMode="auto">
          <a:xfrm>
            <a:off x="2446867" y="3727450"/>
            <a:ext cx="7450667" cy="5191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800" b="0" dirty="0">
                <a:cs typeface="Arial" pitchFamily="34" charset="0"/>
              </a:rPr>
              <a:t>Drive for better vision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150000"/>
        <a:buFont typeface="Wingdings" pitchFamily="2" charset="2"/>
        <a:buChar char="§"/>
        <a:defRPr kumimoji="1"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441F68-9F4F-97F8-C96F-6BD6B7723344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zh-TW" dirty="0"/>
              <a:t>Demo Scripts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A59D3DC-8BBF-7A9D-304F-24B4DC9611BC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altLang="zh-TW" dirty="0"/>
              <a:t>app_spis_tool.py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5382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6ADFEE-E8ED-BBA3-CDB4-815D7027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7D0A37-E35F-C875-8787-02410A3ED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Implemented by Python</a:t>
            </a:r>
          </a:p>
          <a:p>
            <a:r>
              <a:rPr lang="en-US" altLang="zh-TW" dirty="0"/>
              <a:t>Platform</a:t>
            </a:r>
          </a:p>
          <a:p>
            <a:pPr lvl="1"/>
            <a:r>
              <a:rPr lang="en-US" altLang="zh-TW" dirty="0"/>
              <a:t>Windows PC with FT4222H</a:t>
            </a:r>
          </a:p>
          <a:p>
            <a:r>
              <a:rPr lang="en-US" altLang="zh-TW" dirty="0"/>
              <a:t>For receiving data from </a:t>
            </a:r>
            <a:r>
              <a:rPr lang="en-US" altLang="zh-TW" dirty="0" err="1"/>
              <a:t>WiseEye</a:t>
            </a:r>
            <a:r>
              <a:rPr lang="en-US" altLang="zh-TW" dirty="0"/>
              <a:t> devices</a:t>
            </a:r>
          </a:p>
          <a:p>
            <a:pPr lvl="1"/>
            <a:r>
              <a:rPr lang="en-US" altLang="zh-TW" dirty="0"/>
              <a:t>JPG: the captured image</a:t>
            </a:r>
          </a:p>
          <a:p>
            <a:pPr lvl="1"/>
            <a:r>
              <a:rPr lang="en-US" altLang="zh-TW" dirty="0"/>
              <a:t>Metadata: the detection result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7DCEEA-EC4A-419E-D62B-DA51368CDD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0058C-C2FC-4EFF-BE8C-FF10CAD27BB7}" type="slidenum">
              <a:rPr lang="en-US" altLang="zh-TW" smtClean="0"/>
              <a:pPr/>
              <a:t>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2864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AB1B71-BF38-DF86-4A6B-D61638C81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app_spis_tool.py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121D02-59DB-0072-09C5-BAE03B171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Receiving data through SPI interface</a:t>
            </a:r>
          </a:p>
          <a:p>
            <a:pPr lvl="1"/>
            <a:r>
              <a:rPr lang="en-US" altLang="zh-TW" dirty="0" err="1"/>
              <a:t>WiseEye</a:t>
            </a:r>
            <a:r>
              <a:rPr lang="en-US" altLang="zh-TW" dirty="0"/>
              <a:t>: SPI Master</a:t>
            </a:r>
          </a:p>
          <a:p>
            <a:pPr lvl="1"/>
            <a:r>
              <a:rPr lang="en-US" altLang="zh-TW" dirty="0"/>
              <a:t>Windows PC: SPI Slave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F0744C-8DA4-E8D1-8138-501C902F46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0058C-C2FC-4EFF-BE8C-FF10CAD27BB7}" type="slidenum">
              <a:rPr lang="en-US" altLang="zh-TW" smtClean="0"/>
              <a:pPr/>
              <a:t>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17900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D78355-16D9-5FC5-E457-3843C142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app_spis_tool.py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D2CFB4-C660-1C75-6CBA-12DA5AE01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Architecture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0B0BC6-14E5-FA43-CF4C-E28F896C4D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0058C-C2FC-4EFF-BE8C-FF10CAD27BB7}" type="slidenum">
              <a:rPr lang="en-US" altLang="zh-TW" smtClean="0"/>
              <a:pPr/>
              <a:t>4</a:t>
            </a:fld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9CEFC1-11AC-CCC9-FFCD-7BEA7DA66A5A}"/>
              </a:ext>
            </a:extLst>
          </p:cNvPr>
          <p:cNvSpPr/>
          <p:nvPr/>
        </p:nvSpPr>
        <p:spPr bwMode="auto">
          <a:xfrm>
            <a:off x="4655840" y="2348880"/>
            <a:ext cx="2448272" cy="50405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app_spis_tool.py</a:t>
            </a: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45F909-FD1E-D3CA-C32E-FAA8E639CCDB}"/>
              </a:ext>
            </a:extLst>
          </p:cNvPr>
          <p:cNvSpPr/>
          <p:nvPr/>
        </p:nvSpPr>
        <p:spPr bwMode="auto">
          <a:xfrm>
            <a:off x="4439816" y="3356992"/>
            <a:ext cx="3205660" cy="50405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hmx_spi_slave_commands.py</a:t>
            </a: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995726-A977-3A22-438A-76F381E016A5}"/>
              </a:ext>
            </a:extLst>
          </p:cNvPr>
          <p:cNvSpPr/>
          <p:nvPr/>
        </p:nvSpPr>
        <p:spPr bwMode="auto">
          <a:xfrm>
            <a:off x="4295800" y="4221088"/>
            <a:ext cx="3528392" cy="50405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hmx_spi_slave_packet_handlers.py</a:t>
            </a: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4D1484-F12C-09E8-C209-BD7B47FDD57B}"/>
              </a:ext>
            </a:extLst>
          </p:cNvPr>
          <p:cNvSpPr/>
          <p:nvPr/>
        </p:nvSpPr>
        <p:spPr bwMode="auto">
          <a:xfrm>
            <a:off x="4799856" y="5157192"/>
            <a:ext cx="2448272" cy="50405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spi.py</a:t>
            </a: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F889071D-A61E-A2F4-B1BB-DE14FD661CD2}"/>
              </a:ext>
            </a:extLst>
          </p:cNvPr>
          <p:cNvCxnSpPr>
            <a:cxnSpLocks/>
          </p:cNvCxnSpPr>
          <p:nvPr/>
        </p:nvCxnSpPr>
        <p:spPr bwMode="auto">
          <a:xfrm flipV="1">
            <a:off x="1055440" y="4981263"/>
            <a:ext cx="8712968" cy="31913"/>
          </a:xfrm>
          <a:prstGeom prst="line">
            <a:avLst/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418B13D-7A4F-3A11-398B-4969F44E1B5F}"/>
              </a:ext>
            </a:extLst>
          </p:cNvPr>
          <p:cNvSpPr txBox="1"/>
          <p:nvPr/>
        </p:nvSpPr>
        <p:spPr>
          <a:xfrm>
            <a:off x="7446044" y="5147907"/>
            <a:ext cx="2698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>
                <a:solidFill>
                  <a:srgbClr val="00B0F0"/>
                </a:solidFill>
              </a:rPr>
              <a:t>Hardware Abstraction Layer</a:t>
            </a:r>
            <a:endParaRPr lang="zh-TW" altLang="en-US" b="0" dirty="0">
              <a:solidFill>
                <a:srgbClr val="00B0F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937050-526C-B7D5-764A-151C8ABEE59D}"/>
              </a:ext>
            </a:extLst>
          </p:cNvPr>
          <p:cNvSpPr/>
          <p:nvPr/>
        </p:nvSpPr>
        <p:spPr bwMode="auto">
          <a:xfrm>
            <a:off x="4799856" y="5842769"/>
            <a:ext cx="2448272" cy="50405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FT4222H</a:t>
            </a: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92F30D7-76DD-D1E3-A39D-105592DC0017}"/>
              </a:ext>
            </a:extLst>
          </p:cNvPr>
          <p:cNvCxnSpPr>
            <a:cxnSpLocks/>
            <a:stCxn id="20" idx="1"/>
            <a:endCxn id="9" idx="3"/>
          </p:cNvCxnSpPr>
          <p:nvPr/>
        </p:nvCxnSpPr>
        <p:spPr bwMode="auto">
          <a:xfrm flipH="1">
            <a:off x="7824192" y="4409066"/>
            <a:ext cx="1138012" cy="6405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0F8BB7D-A94C-68C2-6ED7-89A8E91EE549}"/>
              </a:ext>
            </a:extLst>
          </p:cNvPr>
          <p:cNvSpPr txBox="1"/>
          <p:nvPr/>
        </p:nvSpPr>
        <p:spPr>
          <a:xfrm>
            <a:off x="8962204" y="4116678"/>
            <a:ext cx="2611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Collect and Parsing data from SPI Slave Interface</a:t>
            </a:r>
            <a:endParaRPr lang="zh-TW" altLang="en-US" b="0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C496BFD7-991C-21B7-7DE2-03B256919680}"/>
              </a:ext>
            </a:extLst>
          </p:cNvPr>
          <p:cNvCxnSpPr>
            <a:cxnSpLocks/>
            <a:stCxn id="25" idx="1"/>
            <a:endCxn id="8" idx="3"/>
          </p:cNvCxnSpPr>
          <p:nvPr/>
        </p:nvCxnSpPr>
        <p:spPr bwMode="auto">
          <a:xfrm flipH="1" flipV="1">
            <a:off x="7645476" y="3609020"/>
            <a:ext cx="1042812" cy="2152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686EFFA-1EBD-3E7B-4EE5-ED1A34165C65}"/>
              </a:ext>
            </a:extLst>
          </p:cNvPr>
          <p:cNvSpPr txBox="1"/>
          <p:nvPr/>
        </p:nvSpPr>
        <p:spPr>
          <a:xfrm>
            <a:off x="8688288" y="3338152"/>
            <a:ext cx="3205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Providing </a:t>
            </a:r>
            <a:r>
              <a:rPr lang="en-US" altLang="zh-TW" b="0" dirty="0" err="1"/>
              <a:t>GetJpeg</a:t>
            </a:r>
            <a:r>
              <a:rPr lang="en-US" altLang="zh-TW" b="0" dirty="0"/>
              <a:t>, </a:t>
            </a:r>
            <a:r>
              <a:rPr lang="en-US" altLang="zh-TW" b="0" dirty="0" err="1"/>
              <a:t>GetMetaData</a:t>
            </a:r>
            <a:r>
              <a:rPr lang="en-US" altLang="zh-TW" b="0" dirty="0"/>
              <a:t> commands for application layer</a:t>
            </a:r>
            <a:endParaRPr lang="zh-TW" altLang="en-US" b="0" dirty="0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9472C9A4-C938-D1A3-DBEB-CBEAD11095A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3432" y="3068960"/>
            <a:ext cx="8712968" cy="9395"/>
          </a:xfrm>
          <a:prstGeom prst="line">
            <a:avLst/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3280528-E287-6243-EB63-8139CD9A946B}"/>
              </a:ext>
            </a:extLst>
          </p:cNvPr>
          <p:cNvSpPr txBox="1"/>
          <p:nvPr/>
        </p:nvSpPr>
        <p:spPr>
          <a:xfrm>
            <a:off x="8009518" y="2203153"/>
            <a:ext cx="2135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>
                <a:solidFill>
                  <a:srgbClr val="00B0F0"/>
                </a:solidFill>
              </a:rPr>
              <a:t>Application Layer</a:t>
            </a:r>
            <a:endParaRPr lang="zh-TW" altLang="en-US" b="0" dirty="0">
              <a:solidFill>
                <a:srgbClr val="00B0F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8C45FB-DBBB-D07A-3CD7-E597BEBCD9D3}"/>
              </a:ext>
            </a:extLst>
          </p:cNvPr>
          <p:cNvSpPr/>
          <p:nvPr/>
        </p:nvSpPr>
        <p:spPr bwMode="auto">
          <a:xfrm>
            <a:off x="2495600" y="4225534"/>
            <a:ext cx="1440160" cy="50405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hmx_utils.py</a:t>
            </a: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F539789-145C-204D-E748-8EB5338D3DF8}"/>
              </a:ext>
            </a:extLst>
          </p:cNvPr>
          <p:cNvSpPr txBox="1"/>
          <p:nvPr/>
        </p:nvSpPr>
        <p:spPr>
          <a:xfrm>
            <a:off x="7968207" y="3050504"/>
            <a:ext cx="2698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>
                <a:solidFill>
                  <a:srgbClr val="00B0F0"/>
                </a:solidFill>
              </a:rPr>
              <a:t>Middle Layer</a:t>
            </a:r>
            <a:endParaRPr lang="zh-TW" altLang="en-US" b="0" dirty="0">
              <a:solidFill>
                <a:srgbClr val="00B0F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60E231F-C9AF-6F5D-C3B7-30AD7F9EA45A}"/>
              </a:ext>
            </a:extLst>
          </p:cNvPr>
          <p:cNvSpPr/>
          <p:nvPr/>
        </p:nvSpPr>
        <p:spPr bwMode="auto">
          <a:xfrm>
            <a:off x="1271464" y="3378511"/>
            <a:ext cx="2664296" cy="50405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hmx_meta_data_format.py</a:t>
            </a: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9F9CA1A-482E-DAB6-EF90-52703FB6F332}"/>
              </a:ext>
            </a:extLst>
          </p:cNvPr>
          <p:cNvSpPr/>
          <p:nvPr/>
        </p:nvSpPr>
        <p:spPr bwMode="auto">
          <a:xfrm>
            <a:off x="767408" y="4221088"/>
            <a:ext cx="1440160" cy="50405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logger.py</a:t>
            </a: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2" name="箭號: 向下 41">
            <a:extLst>
              <a:ext uri="{FF2B5EF4-FFF2-40B4-BE49-F238E27FC236}">
                <a16:creationId xmlns:a16="http://schemas.microsoft.com/office/drawing/2014/main" id="{26998458-C0F1-1682-3651-6453C8649D49}"/>
              </a:ext>
            </a:extLst>
          </p:cNvPr>
          <p:cNvSpPr/>
          <p:nvPr/>
        </p:nvSpPr>
        <p:spPr bwMode="auto">
          <a:xfrm rot="10800000">
            <a:off x="5779568" y="4834246"/>
            <a:ext cx="288032" cy="282850"/>
          </a:xfrm>
          <a:prstGeom prst="downArrow">
            <a:avLst/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3" name="箭號: 向下 42">
            <a:extLst>
              <a:ext uri="{FF2B5EF4-FFF2-40B4-BE49-F238E27FC236}">
                <a16:creationId xmlns:a16="http://schemas.microsoft.com/office/drawing/2014/main" id="{27999DD9-9ED4-C83D-D0C4-CCA7CE29F513}"/>
              </a:ext>
            </a:extLst>
          </p:cNvPr>
          <p:cNvSpPr/>
          <p:nvPr/>
        </p:nvSpPr>
        <p:spPr bwMode="auto">
          <a:xfrm rot="10800000">
            <a:off x="5743018" y="3875516"/>
            <a:ext cx="288032" cy="282850"/>
          </a:xfrm>
          <a:prstGeom prst="downArrow">
            <a:avLst/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4" name="箭號: 向下 43">
            <a:extLst>
              <a:ext uri="{FF2B5EF4-FFF2-40B4-BE49-F238E27FC236}">
                <a16:creationId xmlns:a16="http://schemas.microsoft.com/office/drawing/2014/main" id="{02794DA6-8B83-414F-0EDC-A8B7DD7B5B3D}"/>
              </a:ext>
            </a:extLst>
          </p:cNvPr>
          <p:cNvSpPr/>
          <p:nvPr/>
        </p:nvSpPr>
        <p:spPr bwMode="auto">
          <a:xfrm rot="10800000">
            <a:off x="5643935" y="2936931"/>
            <a:ext cx="288032" cy="282850"/>
          </a:xfrm>
          <a:prstGeom prst="downArrow">
            <a:avLst/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5" name="箭號: 向下 44">
            <a:extLst>
              <a:ext uri="{FF2B5EF4-FFF2-40B4-BE49-F238E27FC236}">
                <a16:creationId xmlns:a16="http://schemas.microsoft.com/office/drawing/2014/main" id="{3F31F602-46A3-D4C7-7043-81C071587E97}"/>
              </a:ext>
            </a:extLst>
          </p:cNvPr>
          <p:cNvSpPr/>
          <p:nvPr/>
        </p:nvSpPr>
        <p:spPr bwMode="auto">
          <a:xfrm rot="10800000">
            <a:off x="2478251" y="2861702"/>
            <a:ext cx="288032" cy="282850"/>
          </a:xfrm>
          <a:prstGeom prst="downArrow">
            <a:avLst/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B53BDB6D-3C34-1EFE-BCC2-A0CE0794F3D0}"/>
              </a:ext>
            </a:extLst>
          </p:cNvPr>
          <p:cNvSpPr txBox="1"/>
          <p:nvPr/>
        </p:nvSpPr>
        <p:spPr>
          <a:xfrm>
            <a:off x="7154854" y="2460021"/>
            <a:ext cx="2608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The major scripts for </a:t>
            </a:r>
            <a:r>
              <a:rPr lang="en-US" altLang="zh-TW" b="0" dirty="0" err="1"/>
              <a:t>WiseEye</a:t>
            </a:r>
            <a:r>
              <a:rPr lang="en-US" altLang="zh-TW" b="0" dirty="0"/>
              <a:t> </a:t>
            </a:r>
            <a:r>
              <a:rPr lang="en-US" altLang="zh-TW" b="0" dirty="0" err="1"/>
              <a:t>demostration</a:t>
            </a:r>
            <a:endParaRPr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3925939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EB5BAE-E81F-7400-39F8-924C69A0F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app_spis_tool.py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48E508-CCCF-6881-2B5A-F3E0D3C15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B53AAD-CA59-C8B7-BDBD-830CB10C6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0058C-C2FC-4EFF-BE8C-FF10CAD27BB7}" type="slidenum">
              <a:rPr lang="en-US" altLang="zh-TW" smtClean="0"/>
              <a:pPr/>
              <a:t>5</a:t>
            </a:fld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B076F6A-F59F-CF87-57D8-7FEDC7BD1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95" y="1484784"/>
            <a:ext cx="7153275" cy="4400550"/>
          </a:xfrm>
          <a:prstGeom prst="rect">
            <a:avLst/>
          </a:prstGeom>
        </p:spPr>
      </p:pic>
      <p:sp>
        <p:nvSpPr>
          <p:cNvPr id="12" name="語音泡泡: 矩形 11">
            <a:extLst>
              <a:ext uri="{FF2B5EF4-FFF2-40B4-BE49-F238E27FC236}">
                <a16:creationId xmlns:a16="http://schemas.microsoft.com/office/drawing/2014/main" id="{8AAB6595-F744-C3CD-4C68-ADF204D73771}"/>
              </a:ext>
            </a:extLst>
          </p:cNvPr>
          <p:cNvSpPr/>
          <p:nvPr/>
        </p:nvSpPr>
        <p:spPr bwMode="auto">
          <a:xfrm>
            <a:off x="6744072" y="1023293"/>
            <a:ext cx="3816424" cy="932448"/>
          </a:xfrm>
          <a:prstGeom prst="wedgeRectCallout">
            <a:avLst>
              <a:gd name="adj1" fmla="val -93979"/>
              <a:gd name="adj2" fmla="val 30538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4AE1986-B7EB-54B1-5FE8-5F7EECCB06B0}"/>
              </a:ext>
            </a:extLst>
          </p:cNvPr>
          <p:cNvSpPr txBox="1"/>
          <p:nvPr/>
        </p:nvSpPr>
        <p:spPr>
          <a:xfrm>
            <a:off x="6744072" y="1115280"/>
            <a:ext cx="381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Specify SPI Slave to be the interface for receiving data from </a:t>
            </a:r>
            <a:r>
              <a:rPr lang="en-US" altLang="zh-TW" b="0" dirty="0" err="1"/>
              <a:t>WiseEye</a:t>
            </a:r>
            <a:r>
              <a:rPr lang="en-US" altLang="zh-TW" b="0" dirty="0"/>
              <a:t>.</a:t>
            </a:r>
          </a:p>
          <a:p>
            <a:r>
              <a:rPr lang="en-US" altLang="zh-TW" b="0" dirty="0"/>
              <a:t>Receiving Data Types: Metadata, JPEG</a:t>
            </a:r>
            <a:endParaRPr lang="zh-TW" altLang="en-US" b="0" dirty="0"/>
          </a:p>
        </p:txBody>
      </p:sp>
      <p:sp>
        <p:nvSpPr>
          <p:cNvPr id="14" name="語音泡泡: 矩形 13">
            <a:extLst>
              <a:ext uri="{FF2B5EF4-FFF2-40B4-BE49-F238E27FC236}">
                <a16:creationId xmlns:a16="http://schemas.microsoft.com/office/drawing/2014/main" id="{D5CA3246-C064-09AE-4FB0-8772E878381B}"/>
              </a:ext>
            </a:extLst>
          </p:cNvPr>
          <p:cNvSpPr/>
          <p:nvPr/>
        </p:nvSpPr>
        <p:spPr bwMode="auto">
          <a:xfrm>
            <a:off x="6384032" y="2276873"/>
            <a:ext cx="3096344" cy="410562"/>
          </a:xfrm>
          <a:prstGeom prst="wedgeRectCallout">
            <a:avLst>
              <a:gd name="adj1" fmla="val -120540"/>
              <a:gd name="adj2" fmla="val 91202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98FA187-6D27-065D-0717-7F3B3034F403}"/>
              </a:ext>
            </a:extLst>
          </p:cNvPr>
          <p:cNvSpPr txBox="1"/>
          <p:nvPr/>
        </p:nvSpPr>
        <p:spPr>
          <a:xfrm>
            <a:off x="6528048" y="2348880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Get Metadata</a:t>
            </a:r>
            <a:endParaRPr lang="zh-TW" altLang="en-US" b="0" dirty="0"/>
          </a:p>
        </p:txBody>
      </p:sp>
      <p:sp>
        <p:nvSpPr>
          <p:cNvPr id="17" name="語音泡泡: 矩形 16">
            <a:extLst>
              <a:ext uri="{FF2B5EF4-FFF2-40B4-BE49-F238E27FC236}">
                <a16:creationId xmlns:a16="http://schemas.microsoft.com/office/drawing/2014/main" id="{3A8474F3-9E9A-C50F-BD4C-277591B9185D}"/>
              </a:ext>
            </a:extLst>
          </p:cNvPr>
          <p:cNvSpPr/>
          <p:nvPr/>
        </p:nvSpPr>
        <p:spPr bwMode="auto">
          <a:xfrm>
            <a:off x="6384032" y="2658398"/>
            <a:ext cx="3096344" cy="770602"/>
          </a:xfrm>
          <a:prstGeom prst="wedgeRectCallout">
            <a:avLst>
              <a:gd name="adj1" fmla="val -122812"/>
              <a:gd name="adj2" fmla="val 28451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7D82A5E-2D3E-9447-392D-404DB742E7D4}"/>
              </a:ext>
            </a:extLst>
          </p:cNvPr>
          <p:cNvSpPr txBox="1"/>
          <p:nvPr/>
        </p:nvSpPr>
        <p:spPr>
          <a:xfrm>
            <a:off x="6384032" y="2730405"/>
            <a:ext cx="3024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Parsing binary Metadata to python dictionary</a:t>
            </a:r>
            <a:endParaRPr lang="zh-TW" altLang="en-US" b="0" dirty="0"/>
          </a:p>
        </p:txBody>
      </p:sp>
      <p:sp>
        <p:nvSpPr>
          <p:cNvPr id="19" name="語音泡泡: 矩形 18">
            <a:extLst>
              <a:ext uri="{FF2B5EF4-FFF2-40B4-BE49-F238E27FC236}">
                <a16:creationId xmlns:a16="http://schemas.microsoft.com/office/drawing/2014/main" id="{A9F20235-24C2-1829-90A5-4DF250895BC6}"/>
              </a:ext>
            </a:extLst>
          </p:cNvPr>
          <p:cNvSpPr/>
          <p:nvPr/>
        </p:nvSpPr>
        <p:spPr bwMode="auto">
          <a:xfrm>
            <a:off x="6096000" y="4149081"/>
            <a:ext cx="3096344" cy="410562"/>
          </a:xfrm>
          <a:prstGeom prst="wedgeRectCallout">
            <a:avLst>
              <a:gd name="adj1" fmla="val -120540"/>
              <a:gd name="adj2" fmla="val 91202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08C0EAA-A904-B590-8761-BD3C6B6F5230}"/>
              </a:ext>
            </a:extLst>
          </p:cNvPr>
          <p:cNvSpPr txBox="1"/>
          <p:nvPr/>
        </p:nvSpPr>
        <p:spPr>
          <a:xfrm>
            <a:off x="6240016" y="4221088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Get JPEG</a:t>
            </a:r>
            <a:endParaRPr lang="zh-TW" altLang="en-US" b="0" dirty="0"/>
          </a:p>
        </p:txBody>
      </p:sp>
      <p:sp>
        <p:nvSpPr>
          <p:cNvPr id="21" name="語音泡泡: 矩形 20">
            <a:extLst>
              <a:ext uri="{FF2B5EF4-FFF2-40B4-BE49-F238E27FC236}">
                <a16:creationId xmlns:a16="http://schemas.microsoft.com/office/drawing/2014/main" id="{F339B406-54F2-041A-F0BD-2CB1C8193335}"/>
              </a:ext>
            </a:extLst>
          </p:cNvPr>
          <p:cNvSpPr/>
          <p:nvPr/>
        </p:nvSpPr>
        <p:spPr bwMode="auto">
          <a:xfrm>
            <a:off x="6128874" y="4679233"/>
            <a:ext cx="3096344" cy="600491"/>
          </a:xfrm>
          <a:prstGeom prst="wedgeRectCallout">
            <a:avLst>
              <a:gd name="adj1" fmla="val -106058"/>
              <a:gd name="adj2" fmla="val 43246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83F7317-C6E6-C18F-EBAB-137811A27460}"/>
              </a:ext>
            </a:extLst>
          </p:cNvPr>
          <p:cNvSpPr txBox="1"/>
          <p:nvPr/>
        </p:nvSpPr>
        <p:spPr>
          <a:xfrm>
            <a:off x="6128874" y="4751240"/>
            <a:ext cx="3024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Decode JPEG to image buffer</a:t>
            </a:r>
            <a:endParaRPr lang="zh-TW" altLang="en-US" b="0" dirty="0"/>
          </a:p>
        </p:txBody>
      </p:sp>
      <p:sp>
        <p:nvSpPr>
          <p:cNvPr id="23" name="語音泡泡: 矩形 22">
            <a:extLst>
              <a:ext uri="{FF2B5EF4-FFF2-40B4-BE49-F238E27FC236}">
                <a16:creationId xmlns:a16="http://schemas.microsoft.com/office/drawing/2014/main" id="{91C5B94C-7109-A300-62B3-4CFC3107EBD4}"/>
              </a:ext>
            </a:extLst>
          </p:cNvPr>
          <p:cNvSpPr/>
          <p:nvPr/>
        </p:nvSpPr>
        <p:spPr bwMode="auto">
          <a:xfrm>
            <a:off x="7968208" y="5564813"/>
            <a:ext cx="3096344" cy="600491"/>
          </a:xfrm>
          <a:prstGeom prst="wedgeRectCallout">
            <a:avLst>
              <a:gd name="adj1" fmla="val -59773"/>
              <a:gd name="adj2" fmla="val -34356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6C9E60E-D015-60C6-42A9-3FE10FD1CFA3}"/>
              </a:ext>
            </a:extLst>
          </p:cNvPr>
          <p:cNvSpPr txBox="1"/>
          <p:nvPr/>
        </p:nvSpPr>
        <p:spPr>
          <a:xfrm>
            <a:off x="7968208" y="5636820"/>
            <a:ext cx="3024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Draw the BD number to the image buffer</a:t>
            </a:r>
            <a:endParaRPr lang="zh-TW" altLang="en-US" b="0" dirty="0"/>
          </a:p>
        </p:txBody>
      </p:sp>
      <p:sp>
        <p:nvSpPr>
          <p:cNvPr id="25" name="語音泡泡: 矩形 24">
            <a:extLst>
              <a:ext uri="{FF2B5EF4-FFF2-40B4-BE49-F238E27FC236}">
                <a16:creationId xmlns:a16="http://schemas.microsoft.com/office/drawing/2014/main" id="{DA4B7E88-C4B2-375D-FFE9-29FDB0EEC1C6}"/>
              </a:ext>
            </a:extLst>
          </p:cNvPr>
          <p:cNvSpPr/>
          <p:nvPr/>
        </p:nvSpPr>
        <p:spPr bwMode="auto">
          <a:xfrm>
            <a:off x="2711624" y="1999411"/>
            <a:ext cx="1942818" cy="830996"/>
          </a:xfrm>
          <a:prstGeom prst="wedgeRectCallout">
            <a:avLst>
              <a:gd name="adj1" fmla="val -115109"/>
              <a:gd name="adj2" fmla="val 18197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E25C220-8C70-764F-F00F-C9B9CFCEFB98}"/>
              </a:ext>
            </a:extLst>
          </p:cNvPr>
          <p:cNvSpPr txBox="1"/>
          <p:nvPr/>
        </p:nvSpPr>
        <p:spPr>
          <a:xfrm>
            <a:off x="2514868" y="1999411"/>
            <a:ext cx="2466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A loop for keeping to get Metadata and JPEG from </a:t>
            </a:r>
            <a:r>
              <a:rPr lang="en-US" altLang="zh-TW" b="0" dirty="0" err="1"/>
              <a:t>WiseEye</a:t>
            </a:r>
            <a:endParaRPr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1741260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4A50D-E20A-A642-993A-2B2637EE5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app_spis_tool.py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9DF08A-7AC4-413B-1EFC-A074C3F87E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0058C-C2FC-4EFF-BE8C-FF10CAD27BB7}" type="slidenum">
              <a:rPr lang="en-US" altLang="zh-TW" smtClean="0"/>
              <a:pPr/>
              <a:t>6</a:t>
            </a:fld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CF3C1C7-D441-E871-94A1-FD77AD0DA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62112"/>
            <a:ext cx="6238875" cy="4391025"/>
          </a:xfrm>
          <a:prstGeom prst="rect">
            <a:avLst/>
          </a:prstGeom>
        </p:spPr>
      </p:pic>
      <p:sp>
        <p:nvSpPr>
          <p:cNvPr id="7" name="語音泡泡: 矩形 6">
            <a:extLst>
              <a:ext uri="{FF2B5EF4-FFF2-40B4-BE49-F238E27FC236}">
                <a16:creationId xmlns:a16="http://schemas.microsoft.com/office/drawing/2014/main" id="{AFC769E3-C09F-AB30-C08F-42C92B71FA13}"/>
              </a:ext>
            </a:extLst>
          </p:cNvPr>
          <p:cNvSpPr/>
          <p:nvPr/>
        </p:nvSpPr>
        <p:spPr bwMode="auto">
          <a:xfrm>
            <a:off x="7370921" y="3123548"/>
            <a:ext cx="3312368" cy="656782"/>
          </a:xfrm>
          <a:prstGeom prst="wedgeRectCallout">
            <a:avLst>
              <a:gd name="adj1" fmla="val -172497"/>
              <a:gd name="adj2" fmla="val -34900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85948DD-027F-08C6-453F-EC23BC058B46}"/>
              </a:ext>
            </a:extLst>
          </p:cNvPr>
          <p:cNvSpPr txBox="1"/>
          <p:nvPr/>
        </p:nvSpPr>
        <p:spPr>
          <a:xfrm>
            <a:off x="7514937" y="3195555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Drawing all the bounding boxes for face detection</a:t>
            </a:r>
            <a:endParaRPr lang="zh-TW" altLang="en-US" b="0" dirty="0"/>
          </a:p>
        </p:txBody>
      </p:sp>
      <p:sp>
        <p:nvSpPr>
          <p:cNvPr id="9" name="語音泡泡: 矩形 8">
            <a:extLst>
              <a:ext uri="{FF2B5EF4-FFF2-40B4-BE49-F238E27FC236}">
                <a16:creationId xmlns:a16="http://schemas.microsoft.com/office/drawing/2014/main" id="{81B02C0F-02B2-ACAD-013C-66BEE0358DDB}"/>
              </a:ext>
            </a:extLst>
          </p:cNvPr>
          <p:cNvSpPr/>
          <p:nvPr/>
        </p:nvSpPr>
        <p:spPr bwMode="auto">
          <a:xfrm>
            <a:off x="7320136" y="994583"/>
            <a:ext cx="3312368" cy="576349"/>
          </a:xfrm>
          <a:prstGeom prst="wedgeRectCallout">
            <a:avLst>
              <a:gd name="adj1" fmla="val -120206"/>
              <a:gd name="adj2" fmla="val 164258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7AD0E25-9EF2-18F5-0A29-17D193D3AFE7}"/>
              </a:ext>
            </a:extLst>
          </p:cNvPr>
          <p:cNvSpPr txBox="1"/>
          <p:nvPr/>
        </p:nvSpPr>
        <p:spPr>
          <a:xfrm>
            <a:off x="7320136" y="986157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The bounding box(x, y, w, h) of a detected human body</a:t>
            </a:r>
            <a:endParaRPr lang="zh-TW" altLang="en-US" b="0" dirty="0"/>
          </a:p>
        </p:txBody>
      </p:sp>
      <p:sp>
        <p:nvSpPr>
          <p:cNvPr id="11" name="語音泡泡: 矩形 10">
            <a:extLst>
              <a:ext uri="{FF2B5EF4-FFF2-40B4-BE49-F238E27FC236}">
                <a16:creationId xmlns:a16="http://schemas.microsoft.com/office/drawing/2014/main" id="{4DD9E27E-17EF-8AF3-D4E1-7FF66D9B7A20}"/>
              </a:ext>
            </a:extLst>
          </p:cNvPr>
          <p:cNvSpPr/>
          <p:nvPr/>
        </p:nvSpPr>
        <p:spPr bwMode="auto">
          <a:xfrm>
            <a:off x="7472536" y="1661614"/>
            <a:ext cx="3096344" cy="576349"/>
          </a:xfrm>
          <a:prstGeom prst="wedgeRectCallout">
            <a:avLst>
              <a:gd name="adj1" fmla="val -84385"/>
              <a:gd name="adj2" fmla="val 132222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F2C0C20-3D94-11D5-56EC-4A8D6891BD40}"/>
              </a:ext>
            </a:extLst>
          </p:cNvPr>
          <p:cNvSpPr txBox="1"/>
          <p:nvPr/>
        </p:nvSpPr>
        <p:spPr>
          <a:xfrm>
            <a:off x="7472536" y="1653188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Draw the bounding box to the image buffer</a:t>
            </a:r>
            <a:endParaRPr lang="zh-TW" altLang="en-US" b="0" dirty="0"/>
          </a:p>
        </p:txBody>
      </p:sp>
      <p:sp>
        <p:nvSpPr>
          <p:cNvPr id="13" name="語音泡泡: 矩形 12">
            <a:extLst>
              <a:ext uri="{FF2B5EF4-FFF2-40B4-BE49-F238E27FC236}">
                <a16:creationId xmlns:a16="http://schemas.microsoft.com/office/drawing/2014/main" id="{F5A18402-0A4D-487A-5B0F-2AFE039425A5}"/>
              </a:ext>
            </a:extLst>
          </p:cNvPr>
          <p:cNvSpPr/>
          <p:nvPr/>
        </p:nvSpPr>
        <p:spPr bwMode="auto">
          <a:xfrm>
            <a:off x="7536160" y="2320219"/>
            <a:ext cx="3096344" cy="757452"/>
          </a:xfrm>
          <a:prstGeom prst="wedgeRectCallout">
            <a:avLst>
              <a:gd name="adj1" fmla="val -74446"/>
              <a:gd name="adj2" fmla="val 32639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2681C69-9608-B427-F952-78FE01A15A3F}"/>
              </a:ext>
            </a:extLst>
          </p:cNvPr>
          <p:cNvSpPr txBox="1"/>
          <p:nvPr/>
        </p:nvSpPr>
        <p:spPr>
          <a:xfrm>
            <a:off x="7536160" y="2309971"/>
            <a:ext cx="30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Draw the position of the detected human body to the image buffer</a:t>
            </a:r>
            <a:endParaRPr lang="zh-TW" altLang="en-US" b="0" dirty="0"/>
          </a:p>
        </p:txBody>
      </p:sp>
      <p:sp>
        <p:nvSpPr>
          <p:cNvPr id="15" name="語音泡泡: 矩形 14">
            <a:extLst>
              <a:ext uri="{FF2B5EF4-FFF2-40B4-BE49-F238E27FC236}">
                <a16:creationId xmlns:a16="http://schemas.microsoft.com/office/drawing/2014/main" id="{3A4AF8A4-A8FE-0C2A-B27C-A4BB5721D508}"/>
              </a:ext>
            </a:extLst>
          </p:cNvPr>
          <p:cNvSpPr/>
          <p:nvPr/>
        </p:nvSpPr>
        <p:spPr bwMode="auto">
          <a:xfrm>
            <a:off x="7320136" y="3941482"/>
            <a:ext cx="3096344" cy="576349"/>
          </a:xfrm>
          <a:prstGeom prst="wedgeRectCallout">
            <a:avLst>
              <a:gd name="adj1" fmla="val -107953"/>
              <a:gd name="adj2" fmla="val -102708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2E6C95A-AAD6-3A2F-CE15-AF9B72875E4E}"/>
              </a:ext>
            </a:extLst>
          </p:cNvPr>
          <p:cNvSpPr txBox="1"/>
          <p:nvPr/>
        </p:nvSpPr>
        <p:spPr>
          <a:xfrm>
            <a:off x="7320136" y="3933056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Draw the bounding box to the image buffer</a:t>
            </a:r>
            <a:endParaRPr lang="zh-TW" altLang="en-US" b="0" dirty="0"/>
          </a:p>
        </p:txBody>
      </p:sp>
      <p:sp>
        <p:nvSpPr>
          <p:cNvPr id="17" name="語音泡泡: 矩形 16">
            <a:extLst>
              <a:ext uri="{FF2B5EF4-FFF2-40B4-BE49-F238E27FC236}">
                <a16:creationId xmlns:a16="http://schemas.microsoft.com/office/drawing/2014/main" id="{2F307ABE-3C8C-B59E-D765-74CB90AF154C}"/>
              </a:ext>
            </a:extLst>
          </p:cNvPr>
          <p:cNvSpPr/>
          <p:nvPr/>
        </p:nvSpPr>
        <p:spPr bwMode="auto">
          <a:xfrm>
            <a:off x="7472536" y="337801"/>
            <a:ext cx="3312368" cy="656782"/>
          </a:xfrm>
          <a:prstGeom prst="wedgeRectCallout">
            <a:avLst>
              <a:gd name="adj1" fmla="val -178602"/>
              <a:gd name="adj2" fmla="val 191339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034225E-3EC1-8110-799C-84652078B890}"/>
              </a:ext>
            </a:extLst>
          </p:cNvPr>
          <p:cNvSpPr txBox="1"/>
          <p:nvPr/>
        </p:nvSpPr>
        <p:spPr>
          <a:xfrm>
            <a:off x="7616552" y="409808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Drawing all the bounding boxes for body detection</a:t>
            </a:r>
            <a:endParaRPr lang="zh-TW" altLang="en-US" b="0" dirty="0"/>
          </a:p>
        </p:txBody>
      </p:sp>
      <p:sp>
        <p:nvSpPr>
          <p:cNvPr id="19" name="語音泡泡: 矩形 18">
            <a:extLst>
              <a:ext uri="{FF2B5EF4-FFF2-40B4-BE49-F238E27FC236}">
                <a16:creationId xmlns:a16="http://schemas.microsoft.com/office/drawing/2014/main" id="{E711D351-3300-D57E-8120-4DBCEA00527F}"/>
              </a:ext>
            </a:extLst>
          </p:cNvPr>
          <p:cNvSpPr/>
          <p:nvPr/>
        </p:nvSpPr>
        <p:spPr bwMode="auto">
          <a:xfrm>
            <a:off x="7320136" y="4580843"/>
            <a:ext cx="3096344" cy="576349"/>
          </a:xfrm>
          <a:prstGeom prst="wedgeRectCallout">
            <a:avLst>
              <a:gd name="adj1" fmla="val -107953"/>
              <a:gd name="adj2" fmla="val -102708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9167BDF-AABD-9E47-55E4-482F06EE2B6E}"/>
              </a:ext>
            </a:extLst>
          </p:cNvPr>
          <p:cNvSpPr txBox="1"/>
          <p:nvPr/>
        </p:nvSpPr>
        <p:spPr>
          <a:xfrm>
            <a:off x="7320136" y="4572417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Draw the yaw and pitch information for the face</a:t>
            </a:r>
            <a:endParaRPr lang="zh-TW" altLang="en-US" b="0" dirty="0"/>
          </a:p>
        </p:txBody>
      </p:sp>
      <p:sp>
        <p:nvSpPr>
          <p:cNvPr id="21" name="語音泡泡: 矩形 20">
            <a:extLst>
              <a:ext uri="{FF2B5EF4-FFF2-40B4-BE49-F238E27FC236}">
                <a16:creationId xmlns:a16="http://schemas.microsoft.com/office/drawing/2014/main" id="{0A109DFB-4DD3-05F9-739D-734C3ACCA656}"/>
              </a:ext>
            </a:extLst>
          </p:cNvPr>
          <p:cNvSpPr/>
          <p:nvPr/>
        </p:nvSpPr>
        <p:spPr bwMode="auto">
          <a:xfrm>
            <a:off x="7392144" y="5237626"/>
            <a:ext cx="3096344" cy="576349"/>
          </a:xfrm>
          <a:prstGeom prst="wedgeRectCallout">
            <a:avLst>
              <a:gd name="adj1" fmla="val -180930"/>
              <a:gd name="adj2" fmla="val -142371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3A43ECE-F72E-E969-64F1-E5793EABC4AB}"/>
              </a:ext>
            </a:extLst>
          </p:cNvPr>
          <p:cNvSpPr txBox="1"/>
          <p:nvPr/>
        </p:nvSpPr>
        <p:spPr>
          <a:xfrm>
            <a:off x="7392144" y="5229200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Display the image buffer to display Window</a:t>
            </a:r>
            <a:endParaRPr lang="zh-TW" altLang="en-US" b="0" dirty="0"/>
          </a:p>
        </p:txBody>
      </p:sp>
      <p:sp>
        <p:nvSpPr>
          <p:cNvPr id="23" name="語音泡泡: 矩形 22">
            <a:extLst>
              <a:ext uri="{FF2B5EF4-FFF2-40B4-BE49-F238E27FC236}">
                <a16:creationId xmlns:a16="http://schemas.microsoft.com/office/drawing/2014/main" id="{E2DD9830-F5E6-FD33-36C9-D01D8EFA2CA6}"/>
              </a:ext>
            </a:extLst>
          </p:cNvPr>
          <p:cNvSpPr/>
          <p:nvPr/>
        </p:nvSpPr>
        <p:spPr bwMode="auto">
          <a:xfrm>
            <a:off x="7586945" y="5905987"/>
            <a:ext cx="3096344" cy="576349"/>
          </a:xfrm>
          <a:prstGeom prst="wedgeRectCallout">
            <a:avLst>
              <a:gd name="adj1" fmla="val -178090"/>
              <a:gd name="adj2" fmla="val -162203"/>
            </a:avLst>
          </a:prstGeom>
          <a:noFill/>
          <a:ln w="12700" cap="flat" cmpd="sng" algn="ctr">
            <a:solidFill>
              <a:schemeClr val="folHlink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D0A8001-74C6-F7E7-F164-BC6859F54444}"/>
              </a:ext>
            </a:extLst>
          </p:cNvPr>
          <p:cNvSpPr txBox="1"/>
          <p:nvPr/>
        </p:nvSpPr>
        <p:spPr>
          <a:xfrm>
            <a:off x="7586945" y="5897561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If press the ‘q’ key, leave the loop and terminate the tool.</a:t>
            </a:r>
            <a:endParaRPr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189742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2CFF43-E772-1E08-23A5-EFA595FE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detected_info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EDF00B-B7A4-36AE-AB08-41C9693A8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000" dirty="0"/>
              <a:t>{</a:t>
            </a:r>
            <a:r>
              <a:rPr lang="en-US" altLang="zh-TW" sz="2000" dirty="0">
                <a:solidFill>
                  <a:srgbClr val="00B0F0"/>
                </a:solidFill>
              </a:rPr>
              <a:t>'human_presence</a:t>
            </a:r>
            <a:r>
              <a:rPr lang="en-US" altLang="zh-TW" sz="2000" dirty="0"/>
              <a:t>':</a:t>
            </a:r>
            <a:r>
              <a:rPr lang="en-US" altLang="zh-TW" sz="2000" dirty="0" err="1"/>
              <a:t>human_presence</a:t>
            </a:r>
            <a:r>
              <a:rPr lang="en-US" altLang="zh-TW" sz="2000" dirty="0"/>
              <a:t>, </a:t>
            </a:r>
            <a:r>
              <a:rPr lang="en-US" altLang="zh-TW" sz="2000" dirty="0">
                <a:solidFill>
                  <a:srgbClr val="00B0F0"/>
                </a:solidFill>
              </a:rPr>
              <a:t>'bd_num_of_detection</a:t>
            </a:r>
            <a:r>
              <a:rPr lang="en-US" altLang="zh-TW" sz="2000" dirty="0"/>
              <a:t>':</a:t>
            </a:r>
            <a:r>
              <a:rPr lang="en-US" altLang="zh-TW" sz="2000" dirty="0" err="1"/>
              <a:t>bd_num_of_detection</a:t>
            </a:r>
            <a:r>
              <a:rPr lang="en-US" altLang="zh-TW" sz="2000" dirty="0"/>
              <a:t>, </a:t>
            </a:r>
            <a:r>
              <a:rPr lang="en-US" altLang="zh-TW" sz="2000" dirty="0">
                <a:solidFill>
                  <a:srgbClr val="00B0F0"/>
                </a:solidFill>
              </a:rPr>
              <a:t>'bd_</a:t>
            </a:r>
            <a:r>
              <a:rPr lang="en-US" altLang="zh-TW" sz="2000" dirty="0" err="1">
                <a:solidFill>
                  <a:srgbClr val="00B0F0"/>
                </a:solidFill>
              </a:rPr>
              <a:t>infos</a:t>
            </a:r>
            <a:r>
              <a:rPr lang="en-US" altLang="zh-TW" sz="2000" dirty="0"/>
              <a:t>':</a:t>
            </a:r>
            <a:r>
              <a:rPr lang="en-US" altLang="zh-TW" sz="2000" dirty="0" err="1"/>
              <a:t>bd_infos</a:t>
            </a:r>
            <a:r>
              <a:rPr lang="en-US" altLang="zh-TW" sz="2000" dirty="0"/>
              <a:t>, '</a:t>
            </a:r>
            <a:r>
              <a:rPr lang="en-US" altLang="zh-TW" sz="2000" dirty="0">
                <a:solidFill>
                  <a:srgbClr val="00B0F0"/>
                </a:solidFill>
              </a:rPr>
              <a:t>fd_num_of_detection</a:t>
            </a:r>
            <a:r>
              <a:rPr lang="en-US" altLang="zh-TW" sz="2000" dirty="0"/>
              <a:t>':</a:t>
            </a:r>
            <a:r>
              <a:rPr lang="en-US" altLang="zh-TW" sz="2000" dirty="0" err="1"/>
              <a:t>fd_num_of_detection</a:t>
            </a:r>
            <a:r>
              <a:rPr lang="en-US" altLang="zh-TW" sz="2000" dirty="0"/>
              <a:t>, '</a:t>
            </a:r>
            <a:r>
              <a:rPr lang="en-US" altLang="zh-TW" sz="2000" dirty="0">
                <a:solidFill>
                  <a:srgbClr val="00B0F0"/>
                </a:solidFill>
              </a:rPr>
              <a:t>fd_</a:t>
            </a:r>
            <a:r>
              <a:rPr lang="en-US" altLang="zh-TW" sz="2000" dirty="0" err="1">
                <a:solidFill>
                  <a:srgbClr val="00B0F0"/>
                </a:solidFill>
              </a:rPr>
              <a:t>infos</a:t>
            </a:r>
            <a:r>
              <a:rPr lang="en-US" altLang="zh-TW" sz="2000" dirty="0"/>
              <a:t>':</a:t>
            </a:r>
            <a:r>
              <a:rPr lang="en-US" altLang="zh-TW" sz="2000" dirty="0" err="1"/>
              <a:t>fd_infos</a:t>
            </a:r>
            <a:r>
              <a:rPr lang="en-US" altLang="zh-TW" sz="2000" dirty="0"/>
              <a:t>}</a:t>
            </a:r>
          </a:p>
          <a:p>
            <a:pPr lvl="1"/>
            <a:r>
              <a:rPr lang="en-US" altLang="zh-TW" sz="2000" dirty="0" err="1"/>
              <a:t>human_presence</a:t>
            </a:r>
            <a:endParaRPr lang="en-US" altLang="zh-TW" dirty="0"/>
          </a:p>
          <a:p>
            <a:pPr lvl="2"/>
            <a:r>
              <a:rPr lang="en-US" altLang="zh-TW" dirty="0"/>
              <a:t>Indicates if human presence or not.</a:t>
            </a:r>
          </a:p>
          <a:p>
            <a:pPr lvl="1"/>
            <a:r>
              <a:rPr lang="en-US" altLang="zh-TW" sz="2000" dirty="0" err="1"/>
              <a:t>bd_num_of_detection</a:t>
            </a:r>
            <a:endParaRPr lang="en-US" altLang="zh-TW" sz="2000" dirty="0"/>
          </a:p>
          <a:p>
            <a:pPr lvl="2"/>
            <a:r>
              <a:rPr lang="en-US" altLang="zh-TW" dirty="0"/>
              <a:t>The number of detected human body.</a:t>
            </a:r>
          </a:p>
          <a:p>
            <a:pPr lvl="1"/>
            <a:r>
              <a:rPr lang="en-US" altLang="zh-TW" sz="2000" dirty="0" err="1"/>
              <a:t>fd_num_of_detection</a:t>
            </a:r>
            <a:endParaRPr lang="en-US" altLang="zh-TW" sz="2000" dirty="0"/>
          </a:p>
          <a:p>
            <a:pPr lvl="2"/>
            <a:r>
              <a:rPr lang="en-US" altLang="zh-TW" dirty="0"/>
              <a:t>The number of detected human body.</a:t>
            </a:r>
          </a:p>
          <a:p>
            <a:pPr lvl="1"/>
            <a:r>
              <a:rPr lang="en-US" altLang="zh-TW" dirty="0" err="1"/>
              <a:t>bd_infos</a:t>
            </a:r>
            <a:endParaRPr lang="en-US" altLang="zh-TW" dirty="0"/>
          </a:p>
          <a:p>
            <a:pPr lvl="2"/>
            <a:r>
              <a:rPr lang="en-US" altLang="zh-TW" dirty="0"/>
              <a:t>The list of </a:t>
            </a:r>
            <a:r>
              <a:rPr lang="en-US" altLang="zh-TW" dirty="0" err="1"/>
              <a:t>bd_info</a:t>
            </a:r>
            <a:endParaRPr lang="en-US" altLang="zh-TW" dirty="0"/>
          </a:p>
          <a:p>
            <a:pPr lvl="3"/>
            <a:r>
              <a:rPr lang="en-US" altLang="zh-TW" dirty="0"/>
              <a:t>{'</a:t>
            </a:r>
            <a:r>
              <a:rPr lang="en-US" altLang="zh-TW" dirty="0" err="1"/>
              <a:t>x':x</a:t>
            </a:r>
            <a:r>
              <a:rPr lang="en-US" altLang="zh-TW" dirty="0"/>
              <a:t>, '</a:t>
            </a:r>
            <a:r>
              <a:rPr lang="en-US" altLang="zh-TW" dirty="0" err="1"/>
              <a:t>y':y</a:t>
            </a:r>
            <a:r>
              <a:rPr lang="en-US" altLang="zh-TW" dirty="0"/>
              <a:t>, '</a:t>
            </a:r>
            <a:r>
              <a:rPr lang="en-US" altLang="zh-TW" dirty="0" err="1"/>
              <a:t>width':width</a:t>
            </a:r>
            <a:r>
              <a:rPr lang="en-US" altLang="zh-TW" dirty="0"/>
              <a:t>, '</a:t>
            </a:r>
            <a:r>
              <a:rPr lang="en-US" altLang="zh-TW" dirty="0" err="1"/>
              <a:t>height':height</a:t>
            </a:r>
            <a:r>
              <a:rPr lang="en-US" altLang="zh-TW" dirty="0"/>
              <a:t>, '</a:t>
            </a:r>
            <a:r>
              <a:rPr lang="en-US" altLang="zh-TW" dirty="0" err="1"/>
              <a:t>score':score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 err="1"/>
              <a:t>fd_infos</a:t>
            </a:r>
            <a:endParaRPr lang="en-US" altLang="zh-TW" dirty="0"/>
          </a:p>
          <a:p>
            <a:pPr lvl="2"/>
            <a:r>
              <a:rPr lang="en-US" altLang="zh-TW" dirty="0"/>
              <a:t>The list of </a:t>
            </a:r>
            <a:r>
              <a:rPr lang="en-US" altLang="zh-TW" dirty="0" err="1"/>
              <a:t>fd_info</a:t>
            </a:r>
            <a:endParaRPr lang="en-US" altLang="zh-TW" dirty="0"/>
          </a:p>
          <a:p>
            <a:pPr lvl="3"/>
            <a:r>
              <a:rPr lang="en-US" altLang="zh-TW" dirty="0"/>
              <a:t>{'</a:t>
            </a:r>
            <a:r>
              <a:rPr lang="en-US" altLang="zh-TW" dirty="0" err="1"/>
              <a:t>x':x</a:t>
            </a:r>
            <a:r>
              <a:rPr lang="en-US" altLang="zh-TW" dirty="0"/>
              <a:t>, '</a:t>
            </a:r>
            <a:r>
              <a:rPr lang="en-US" altLang="zh-TW" dirty="0" err="1"/>
              <a:t>y':y</a:t>
            </a:r>
            <a:r>
              <a:rPr lang="en-US" altLang="zh-TW" dirty="0"/>
              <a:t>, '</a:t>
            </a:r>
            <a:r>
              <a:rPr lang="en-US" altLang="zh-TW" dirty="0" err="1"/>
              <a:t>width':width</a:t>
            </a:r>
            <a:r>
              <a:rPr lang="en-US" altLang="zh-TW" dirty="0"/>
              <a:t>, '</a:t>
            </a:r>
            <a:r>
              <a:rPr lang="en-US" altLang="zh-TW" dirty="0" err="1"/>
              <a:t>height':height</a:t>
            </a:r>
            <a:r>
              <a:rPr lang="en-US" altLang="zh-TW" dirty="0"/>
              <a:t>, '</a:t>
            </a:r>
            <a:r>
              <a:rPr lang="en-US" altLang="zh-TW" dirty="0" err="1"/>
              <a:t>score':score</a:t>
            </a:r>
            <a:r>
              <a:rPr lang="en-US" altLang="zh-TW" dirty="0"/>
              <a:t>, 'yaw':</a:t>
            </a:r>
            <a:r>
              <a:rPr lang="en-US" altLang="zh-TW" dirty="0" err="1"/>
              <a:t>face_yaw</a:t>
            </a:r>
            <a:r>
              <a:rPr lang="en-US" altLang="zh-TW" dirty="0"/>
              <a:t>, 'pitch':</a:t>
            </a:r>
            <a:r>
              <a:rPr lang="en-US" altLang="zh-TW" dirty="0" err="1"/>
              <a:t>face_pitch</a:t>
            </a: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0E04C2-B622-AE52-DB1A-FD2ED3033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0058C-C2FC-4EFF-BE8C-FF10CAD27BB7}" type="slidenum">
              <a:rPr lang="en-US" altLang="zh-TW" smtClean="0"/>
              <a:pPr/>
              <a:t>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35229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764DA-9636-DBE5-A982-4E47121B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Usage 1. cmd.exe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F5638C-81AC-8F50-85D7-A9B0EF31A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Execute </a:t>
            </a:r>
            <a:r>
              <a:rPr lang="en-US" altLang="zh-TW" dirty="0" err="1"/>
              <a:t>cmd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Change to the demo scripts folder</a:t>
            </a:r>
          </a:p>
          <a:p>
            <a:endParaRPr lang="en-US" altLang="zh-TW" dirty="0"/>
          </a:p>
          <a:p>
            <a:r>
              <a:rPr lang="en-US" altLang="zh-TW" dirty="0"/>
              <a:t>Enter the following command</a:t>
            </a:r>
          </a:p>
          <a:p>
            <a:pPr lvl="1"/>
            <a:r>
              <a:rPr lang="en-US" altLang="zh-TW" dirty="0"/>
              <a:t>python app_spis_tool.py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3A250B-5BB7-583B-2F57-D08BD79554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0058C-C2FC-4EFF-BE8C-FF10CAD27BB7}" type="slidenum">
              <a:rPr lang="en-US" altLang="zh-TW" smtClean="0"/>
              <a:pPr/>
              <a:t>8</a:t>
            </a:fld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0EDD562-EEE8-2C0D-2EE0-EAC4BB40A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088" y="220634"/>
            <a:ext cx="4453880" cy="363582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C8D301A-BFDB-B748-37D4-68841982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904" y="3244855"/>
            <a:ext cx="6728354" cy="351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31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3569D9-59D2-AE1B-E97E-63F21BD20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Usage 2. Windows Power Shell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ED8002-1818-B464-4D06-C39E133E5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338263"/>
            <a:ext cx="5745989" cy="5008562"/>
          </a:xfrm>
        </p:spPr>
        <p:txBody>
          <a:bodyPr/>
          <a:lstStyle/>
          <a:p>
            <a:r>
              <a:rPr lang="en-US" altLang="zh-TW" dirty="0"/>
              <a:t>Press ‘shift’ key and click the left button of mouse to pop up the menu window.</a:t>
            </a:r>
          </a:p>
          <a:p>
            <a:r>
              <a:rPr lang="en-US" altLang="zh-TW" dirty="0"/>
              <a:t>Click ‘Execute PowerShell Window’</a:t>
            </a:r>
          </a:p>
          <a:p>
            <a:r>
              <a:rPr lang="en-US" altLang="zh-TW" dirty="0"/>
              <a:t>Execute the following command in the Windows PowerShell</a:t>
            </a:r>
          </a:p>
          <a:p>
            <a:pPr lvl="1"/>
            <a:r>
              <a:rPr lang="en-US" altLang="zh-TW" dirty="0"/>
              <a:t>python .\app_spis_tool.py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53656F-BFE4-E6E3-9DB9-55107511E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0058C-C2FC-4EFF-BE8C-FF10CAD27BB7}" type="slidenum">
              <a:rPr lang="en-US" altLang="zh-TW" smtClean="0"/>
              <a:pPr/>
              <a:t>9</a:t>
            </a:fld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E5E88D4-EEBA-B6D9-1C5D-9B36413C4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160" y="188640"/>
            <a:ext cx="4514850" cy="39528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8F090FC-A40B-7CB4-1D37-96D3707DE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936" y="3671995"/>
            <a:ext cx="7020719" cy="327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7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3BFA3-0E91-4EC8-AF1D-4DC94B80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53A9CF-FAD0-4145-A670-CFA738E93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2060"/>
                </a:solidFill>
              </a:rPr>
              <a:t>WE2 SDK</a:t>
            </a:r>
          </a:p>
          <a:p>
            <a:pPr lvl="1"/>
            <a:r>
              <a:rPr lang="en-US" altLang="zh-TW" dirty="0" err="1">
                <a:solidFill>
                  <a:srgbClr val="002060"/>
                </a:solidFill>
              </a:rPr>
              <a:t>YoloFastest</a:t>
            </a:r>
            <a:r>
              <a:rPr lang="en-US" altLang="zh-TW" dirty="0">
                <a:solidFill>
                  <a:srgbClr val="002060"/>
                </a:solidFill>
              </a:rPr>
              <a:t> BD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72E621-4F4A-443E-AFE0-84CDCD089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0058C-C2FC-4EFF-BE8C-FF10CAD27BB7}" type="slidenum">
              <a:rPr lang="en-US" altLang="zh-TW" smtClean="0"/>
              <a:pPr/>
              <a:t>10</a:t>
            </a:fld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9B1B569-892D-B928-E769-FCD40733A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4" y="404664"/>
            <a:ext cx="6195085" cy="526487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A262BFF-3A10-B438-4E9F-7B715100D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1981200"/>
            <a:ext cx="61150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9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1DD0CE-6319-ABD0-49FB-CF0390B8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Q&amp;A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405F29-1F95-BF27-88F8-42CA6C66D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B66AF2-B659-18E3-2050-B1AD8E813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0058C-C2FC-4EFF-BE8C-FF10CAD27BB7}" type="slidenum">
              <a:rPr lang="en-US" altLang="zh-TW" smtClean="0"/>
              <a:pPr/>
              <a:t>11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93795223"/>
      </p:ext>
    </p:extLst>
  </p:cSld>
  <p:clrMapOvr>
    <a:masterClrMapping/>
  </p:clrMapOvr>
</p:sld>
</file>

<file path=ppt/theme/theme1.xml><?xml version="1.0" encoding="utf-8"?>
<a:theme xmlns:a="http://schemas.openxmlformats.org/drawingml/2006/main" name="~1086908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~1086908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folHlink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Arial Unicode MS" pitchFamily="34" charset="-12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folHlink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Arial Unicode MS" pitchFamily="34" charset="-120"/>
            <a:cs typeface="Arial" pitchFamily="34" charset="0"/>
          </a:defRPr>
        </a:defPPr>
      </a:lstStyle>
    </a:lnDef>
  </a:objectDefaults>
  <a:extraClrSchemeLst>
    <a:extraClrScheme>
      <a:clrScheme name="~1086908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Layers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2_Layers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folHlink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Arial Unicode MS" pitchFamily="34" charset="-12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folHlink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Arial Unicode MS" pitchFamily="34" charset="-120"/>
            <a:cs typeface="Arial" pitchFamily="34" charset="0"/>
          </a:defRPr>
        </a:defPPr>
      </a:lstStyle>
    </a:lnDef>
  </a:objectDefaults>
  <a:extraClrSchemeLst>
    <a:extraClrScheme>
      <a:clrScheme name="2_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12464</TotalTime>
  <Words>563</Words>
  <Application>Microsoft Office PowerPoint</Application>
  <PresentationFormat>寬螢幕</PresentationFormat>
  <Paragraphs>90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Arial</vt:lpstr>
      <vt:lpstr>Tahoma</vt:lpstr>
      <vt:lpstr>Times New Roman</vt:lpstr>
      <vt:lpstr>Wingdings</vt:lpstr>
      <vt:lpstr>~1086908</vt:lpstr>
      <vt:lpstr>2_Layers</vt:lpstr>
      <vt:lpstr>Demo Scripts</vt:lpstr>
      <vt:lpstr>Introduce</vt:lpstr>
      <vt:lpstr>app_spis_tool.py</vt:lpstr>
      <vt:lpstr>app_spis_tool.py</vt:lpstr>
      <vt:lpstr>app_spis_tool.py</vt:lpstr>
      <vt:lpstr>app_spis_tool.py</vt:lpstr>
      <vt:lpstr>detected_info</vt:lpstr>
      <vt:lpstr>Usage 1. cmd.exe</vt:lpstr>
      <vt:lpstr>Usage 2. Windows Power Shell</vt:lpstr>
      <vt:lpstr>Example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Low-Cost Module: HX6540+HM01B0 CCM</dc:title>
  <dc:creator>Jonathan Lee(李敬洲)</dc:creator>
  <cp:lastModifiedBy>Aaron Lin(林榮城)</cp:lastModifiedBy>
  <cp:revision>560</cp:revision>
  <dcterms:created xsi:type="dcterms:W3CDTF">2021-05-19T09:01:05Z</dcterms:created>
  <dcterms:modified xsi:type="dcterms:W3CDTF">2023-11-08T05:46:50Z</dcterms:modified>
</cp:coreProperties>
</file>